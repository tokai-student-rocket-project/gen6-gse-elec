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638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302489-A349-B1C3-18E7-72FC50ED9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5DF978A-B66C-18EA-4550-A88E72A3C5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F71BB5-611D-75D4-869C-A78ADFDB6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187F9-EFE0-4283-B76C-6FCD42D5F715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7C3DDC-7A1F-D063-79C0-A642CBD5D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5C255A-77F6-CCF0-41B7-042E5678B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2419D-8101-4C34-BA34-57FEE22738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700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EB6AC0-E7FD-B0AD-A136-E5770D8E3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FC8C8C-30B6-C775-A7DF-DCB653911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9E3E5A-2912-280E-5E99-DAAE7F8B0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187F9-EFE0-4283-B76C-6FCD42D5F715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F33058-03E5-32B6-12DF-BF3DC9023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F83A03-3A9A-D2D8-2255-D1990CF0C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2419D-8101-4C34-BA34-57FEE22738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9386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5A95DA-739A-AD9A-7710-764DB9459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9CCAF1-C3F3-9C91-F599-6DCD9FAD5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030DFA-7C8A-7AD3-2F1B-897A7ACDD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187F9-EFE0-4283-B76C-6FCD42D5F715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F30CA6-97A4-D88C-F257-40E2DBD0A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264567-DB7B-2531-7BCA-3ABED17E3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2419D-8101-4C34-BA34-57FEE22738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6185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505A08-E2BD-0652-32B8-1C1F0D5A9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10B613-3491-D4E1-E79A-F8E8E12B5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6064BEA-EAC0-B2AC-D4B8-4D42B980E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943755E-6360-A478-074B-36038A3C1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187F9-EFE0-4283-B76C-6FCD42D5F715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9E82766-E82E-F5E2-0AAF-D67382173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25F60A-47B5-BBB0-3821-AE4F252C6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2419D-8101-4C34-BA34-57FEE22738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195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56ADCD-FF27-BB39-65BD-2A3CA46A3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D6D4723-1999-F9CA-FA35-A8C03E14A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D13A3C0-A0BB-9D93-EC49-9020CA12B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806E688-DCE9-197F-D1E3-DFDAEA00CD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AF2AD8E-11CE-0B08-9069-583031F172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0ABCE23-BE22-6EF3-8545-2060B532D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187F9-EFE0-4283-B76C-6FCD42D5F715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1A2EFF9-C025-67CB-DA9D-2B974FD38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275918C-0C5C-D27D-0AC0-E1DC25743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2419D-8101-4C34-BA34-57FEE22738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3723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1B271B-E658-9450-8621-D70216C68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5E5F990-5220-4E4F-5DC9-9347F5919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187F9-EFE0-4283-B76C-6FCD42D5F715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8FD57B9-FDB6-420C-BAA9-D5A62C494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00F0CF4-4C16-B6F5-93B1-4C3C01155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2419D-8101-4C34-BA34-57FEE22738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0562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C85AD61-56BD-C07F-387B-D5E2D62DE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187F9-EFE0-4283-B76C-6FCD42D5F715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F915263-389F-4ACF-ADD0-EDEFF779E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FCECEBF-4D71-2BDC-F24A-280C5C3EA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2419D-8101-4C34-BA34-57FEE22738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0072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ACA81B-63DB-9314-B7AB-0007E47A7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A945022-86C4-9E0B-0A6E-5981813B7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13968B2-472A-3260-BF8E-5B8A7D97F8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320290F-DEF0-00E2-8576-BF553FFD4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187F9-EFE0-4283-B76C-6FCD42D5F715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3392BB5-7105-23ED-3479-A1CE75012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579A279-9594-1736-41D5-1DFAA7889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2419D-8101-4C34-BA34-57FEE22738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6452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293477-27D7-55A1-6106-482C90EEE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1F97656-6347-C4B1-AC6F-B48C398EF9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F6DF00F-940D-A281-4A7A-718205B52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8336639-8383-2A87-B473-8677104F8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187F9-EFE0-4283-B76C-6FCD42D5F715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30BB100-AC34-EF28-7391-27A23641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1DAD5B6-D9CD-1F35-26F2-5A00A2564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2419D-8101-4C34-BA34-57FEE22738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409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7EFC21-8FEB-6EAB-2D45-01A848371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FFC7830-8FE4-E3EB-1436-59E0B71F9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4E6578-2EDC-3C43-56F2-47A882A3F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187F9-EFE0-4283-B76C-6FCD42D5F715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DB1181-90E7-13ED-67ED-EDCFB0F96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724EE2-7A89-9EB5-255B-1720FEEE4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2419D-8101-4C34-BA34-57FEE22738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6736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C12A620-6CC7-1383-E6D0-0FC9AF4D84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571812C-DDB5-7AE4-E725-7260F362CE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710314-3DBE-8370-BBBB-F66B8F3E3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187F9-EFE0-4283-B76C-6FCD42D5F715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FC84DB-7B47-67AC-9195-05E4E8D11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BDE7D9-BA6A-E49B-DF41-C0C1CB78A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2419D-8101-4C34-BA34-57FEE22738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568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BF496B1-432D-7947-305F-5D82E9D83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FC6CD6-BDF2-F37E-1A85-0EA7AD4AD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C5AF16-124C-2CE5-E65A-201CA027F3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187F9-EFE0-4283-B76C-6FCD42D5F715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C1D154-F8C3-5D27-52C8-59E346467B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46B3FE-F9A4-4138-A3D8-FF32045477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2419D-8101-4C34-BA34-57FEE22738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2251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1B89403-489C-D868-CA3C-E93A8E820C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57" r="29957"/>
          <a:stretch/>
        </p:blipFill>
        <p:spPr>
          <a:xfrm>
            <a:off x="3926760" y="289527"/>
            <a:ext cx="4157134" cy="5833534"/>
          </a:xfrm>
          <a:prstGeom prst="rect">
            <a:avLst/>
          </a:prstGeom>
        </p:spPr>
      </p:pic>
      <p:pic>
        <p:nvPicPr>
          <p:cNvPr id="8" name="グラフィックス 7" descr="矢印: 反時計回りの曲線 単色塗りつぶし">
            <a:extLst>
              <a:ext uri="{FF2B5EF4-FFF2-40B4-BE49-F238E27FC236}">
                <a16:creationId xmlns:a16="http://schemas.microsoft.com/office/drawing/2014/main" id="{71153F94-EE5D-4043-3FC5-003DF95E80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 flipH="1">
            <a:off x="5198746" y="260150"/>
            <a:ext cx="914400" cy="914400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10C5C7A-1DFA-D7E0-96DE-F9F48585736A}"/>
              </a:ext>
            </a:extLst>
          </p:cNvPr>
          <p:cNvSpPr txBox="1"/>
          <p:nvPr/>
        </p:nvSpPr>
        <p:spPr>
          <a:xfrm>
            <a:off x="4198621" y="334760"/>
            <a:ext cx="1000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latin typeface="Noto Sans JP" panose="020B0200000000000000" pitchFamily="50" charset="-128"/>
                <a:ea typeface="Noto Sans JP" panose="020B0200000000000000" pitchFamily="50" charset="-128"/>
                <a:cs typeface="Microsoft GothicNeo" panose="020B0500000101010101" pitchFamily="34" charset="-127"/>
              </a:rPr>
              <a:t>検知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1A61FBC-A009-DFA0-9DE9-583B41E96432}"/>
              </a:ext>
            </a:extLst>
          </p:cNvPr>
          <p:cNvSpPr txBox="1"/>
          <p:nvPr/>
        </p:nvSpPr>
        <p:spPr>
          <a:xfrm>
            <a:off x="3922923" y="5913092"/>
            <a:ext cx="18134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dirty="0">
                <a:latin typeface="Noto Sans JP" panose="020B0200000000000000" pitchFamily="50" charset="-128"/>
                <a:ea typeface="Noto Sans JP" panose="020B0200000000000000" pitchFamily="50" charset="-128"/>
                <a:cs typeface="Microsoft GothicNeo" panose="020B0500000101010101" pitchFamily="34" charset="-127"/>
              </a:rPr>
              <a:t>信号出力</a:t>
            </a:r>
          </a:p>
        </p:txBody>
      </p:sp>
      <p:pic>
        <p:nvPicPr>
          <p:cNvPr id="12" name="グラフィックス 11" descr="矢印: 直線 単色塗りつぶし">
            <a:extLst>
              <a:ext uri="{FF2B5EF4-FFF2-40B4-BE49-F238E27FC236}">
                <a16:creationId xmlns:a16="http://schemas.microsoft.com/office/drawing/2014/main" id="{DCACE21E-023B-3253-991A-B2BA490E05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5548127" y="5748281"/>
            <a:ext cx="914400" cy="914400"/>
          </a:xfrm>
          <a:prstGeom prst="rect">
            <a:avLst/>
          </a:prstGeom>
        </p:spPr>
      </p:pic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F178DCDB-065C-C7CE-50B9-68BA9F928889}"/>
              </a:ext>
            </a:extLst>
          </p:cNvPr>
          <p:cNvCxnSpPr>
            <a:cxnSpLocks/>
          </p:cNvCxnSpPr>
          <p:nvPr/>
        </p:nvCxnSpPr>
        <p:spPr>
          <a:xfrm flipH="1">
            <a:off x="4383166" y="2936240"/>
            <a:ext cx="559674" cy="270054"/>
          </a:xfrm>
          <a:prstGeom prst="line">
            <a:avLst/>
          </a:prstGeom>
          <a:ln w="76200"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3F875448-D751-B788-579A-A328B794C981}"/>
              </a:ext>
            </a:extLst>
          </p:cNvPr>
          <p:cNvCxnSpPr>
            <a:cxnSpLocks/>
          </p:cNvCxnSpPr>
          <p:nvPr/>
        </p:nvCxnSpPr>
        <p:spPr>
          <a:xfrm flipH="1">
            <a:off x="5296667" y="3048000"/>
            <a:ext cx="1632453" cy="158294"/>
          </a:xfrm>
          <a:prstGeom prst="line">
            <a:avLst/>
          </a:prstGeom>
          <a:ln w="76200"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EAB6A7C-9F2E-C6FF-D4D9-99A26A1DFC0E}"/>
              </a:ext>
            </a:extLst>
          </p:cNvPr>
          <p:cNvSpPr txBox="1"/>
          <p:nvPr/>
        </p:nvSpPr>
        <p:spPr>
          <a:xfrm>
            <a:off x="2057400" y="3122161"/>
            <a:ext cx="18094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Noto Sans JP" panose="020B0200000000000000" pitchFamily="50" charset="-128"/>
                <a:ea typeface="Noto Sans JP" panose="020B0200000000000000" pitchFamily="50" charset="-128"/>
                <a:cs typeface="Microsoft GothicNeo" panose="020B0500000101010101" pitchFamily="34" charset="-127"/>
              </a:rPr>
              <a:t>※</a:t>
            </a:r>
            <a:r>
              <a:rPr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  <a:cs typeface="Microsoft GothicNeo" panose="020B0500000101010101" pitchFamily="34" charset="-127"/>
              </a:rPr>
              <a:t>配線し</a:t>
            </a:r>
            <a:endParaRPr lang="en-US" altLang="ja-JP" sz="2400" b="1" dirty="0">
              <a:latin typeface="Noto Sans JP" panose="020B0200000000000000" pitchFamily="50" charset="-128"/>
              <a:ea typeface="Noto Sans JP" panose="020B0200000000000000" pitchFamily="50" charset="-128"/>
              <a:cs typeface="Microsoft GothicNeo" panose="020B0500000101010101" pitchFamily="34" charset="-127"/>
            </a:endParaRPr>
          </a:p>
          <a:p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  <a:cs typeface="Microsoft GothicNeo" panose="020B0500000101010101" pitchFamily="34" charset="-127"/>
              </a:rPr>
              <a:t>はんだ付け</a:t>
            </a: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05EE2FD5-486E-1089-3516-9D7D15C0ED8E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3866881" y="3206294"/>
            <a:ext cx="456406" cy="331366"/>
          </a:xfrm>
          <a:prstGeom prst="line">
            <a:avLst/>
          </a:prstGeom>
          <a:ln w="381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7A00BFD7-4A69-DB50-D9DA-5C8865F303FA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3866881" y="3235671"/>
            <a:ext cx="1369907" cy="301989"/>
          </a:xfrm>
          <a:prstGeom prst="line">
            <a:avLst/>
          </a:prstGeom>
          <a:ln w="381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1E3B1FEE-48A8-AF73-11B9-AC4A397D7AE4}"/>
              </a:ext>
            </a:extLst>
          </p:cNvPr>
          <p:cNvSpPr txBox="1"/>
          <p:nvPr/>
        </p:nvSpPr>
        <p:spPr>
          <a:xfrm>
            <a:off x="7113271" y="688702"/>
            <a:ext cx="1884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  <a:cs typeface="Microsoft GothicNeo" panose="020B0500000101010101" pitchFamily="34" charset="-127"/>
              </a:rPr>
              <a:t>スイッチ</a:t>
            </a:r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74400C47-AD82-3DCE-BC22-EDA1E5EC8987}"/>
              </a:ext>
            </a:extLst>
          </p:cNvPr>
          <p:cNvCxnSpPr>
            <a:cxnSpLocks/>
            <a:stCxn id="39" idx="2"/>
          </p:cNvCxnSpPr>
          <p:nvPr/>
        </p:nvCxnSpPr>
        <p:spPr>
          <a:xfrm flipH="1">
            <a:off x="7113271" y="1150367"/>
            <a:ext cx="942062" cy="500254"/>
          </a:xfrm>
          <a:prstGeom prst="line">
            <a:avLst/>
          </a:prstGeom>
          <a:ln w="76200" cap="rnd">
            <a:solidFill>
              <a:srgbClr val="004DFF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7729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A8EAA-4375-49D7-6967-F7BA60B30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2C33F1E-91D9-A1EE-0DC8-F72E405A1B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"/>
          <a:stretch/>
        </p:blipFill>
        <p:spPr>
          <a:xfrm>
            <a:off x="820486" y="183950"/>
            <a:ext cx="4157134" cy="5833534"/>
          </a:xfrm>
          <a:prstGeom prst="rect">
            <a:avLst/>
          </a:prstGeom>
        </p:spPr>
      </p:pic>
      <p:pic>
        <p:nvPicPr>
          <p:cNvPr id="8" name="グラフィックス 7" descr="矢印: 反時計回りの曲線 単色塗りつぶし">
            <a:extLst>
              <a:ext uri="{FF2B5EF4-FFF2-40B4-BE49-F238E27FC236}">
                <a16:creationId xmlns:a16="http://schemas.microsoft.com/office/drawing/2014/main" id="{F8ADC532-9CD7-A5CB-C462-539DAFEF0B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 flipH="1">
            <a:off x="1998346" y="199190"/>
            <a:ext cx="914400" cy="914400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6B99D1A-7F83-B48B-9214-27B25EAC355F}"/>
              </a:ext>
            </a:extLst>
          </p:cNvPr>
          <p:cNvSpPr txBox="1"/>
          <p:nvPr/>
        </p:nvSpPr>
        <p:spPr>
          <a:xfrm>
            <a:off x="998221" y="273800"/>
            <a:ext cx="1000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latin typeface="Noto Sans JP" panose="020B0200000000000000" pitchFamily="50" charset="-128"/>
                <a:ea typeface="Noto Sans JP" panose="020B0200000000000000" pitchFamily="50" charset="-128"/>
                <a:cs typeface="Microsoft GothicNeo" panose="020B0500000101010101" pitchFamily="34" charset="-127"/>
              </a:rPr>
              <a:t>検知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AAF9093-97AC-8458-3A3A-B2728BC8D4CF}"/>
              </a:ext>
            </a:extLst>
          </p:cNvPr>
          <p:cNvSpPr txBox="1"/>
          <p:nvPr/>
        </p:nvSpPr>
        <p:spPr>
          <a:xfrm>
            <a:off x="722523" y="5852132"/>
            <a:ext cx="18134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>
                <a:latin typeface="Noto Sans JP" panose="020B0200000000000000" pitchFamily="50" charset="-128"/>
                <a:ea typeface="Noto Sans JP" panose="020B0200000000000000" pitchFamily="50" charset="-128"/>
                <a:cs typeface="Microsoft GothicNeo" panose="020B0500000101010101" pitchFamily="34" charset="-127"/>
              </a:rPr>
              <a:t>信号出力</a:t>
            </a:r>
          </a:p>
        </p:txBody>
      </p:sp>
      <p:pic>
        <p:nvPicPr>
          <p:cNvPr id="12" name="グラフィックス 11" descr="矢印: 直線 単色塗りつぶし">
            <a:extLst>
              <a:ext uri="{FF2B5EF4-FFF2-40B4-BE49-F238E27FC236}">
                <a16:creationId xmlns:a16="http://schemas.microsoft.com/office/drawing/2014/main" id="{D7A577C2-DC26-0649-7D48-653BADD463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2347727" y="5687321"/>
            <a:ext cx="914400" cy="9144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AC1C577-9BF0-464F-1A5F-3E9AEAC548D3}"/>
              </a:ext>
            </a:extLst>
          </p:cNvPr>
          <p:cNvSpPr txBox="1"/>
          <p:nvPr/>
        </p:nvSpPr>
        <p:spPr>
          <a:xfrm>
            <a:off x="2033780" y="4235410"/>
            <a:ext cx="1543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b="1" dirty="0">
                <a:ln w="12700">
                  <a:solidFill>
                    <a:schemeClr val="bg1"/>
                  </a:solidFill>
                </a:ln>
                <a:latin typeface="Noto Sans JP" panose="020B0200000000000000" pitchFamily="50" charset="-128"/>
                <a:ea typeface="Noto Sans JP" panose="020B0200000000000000" pitchFamily="50" charset="-128"/>
              </a:rPr>
              <a:t>1 2 3 4</a:t>
            </a:r>
            <a:endParaRPr kumimoji="1" lang="ja-JP" altLang="en-US" sz="3200" b="1" dirty="0">
              <a:ln w="12700">
                <a:solidFill>
                  <a:schemeClr val="bg1"/>
                </a:solidFill>
              </a:ln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graphicFrame>
        <p:nvGraphicFramePr>
          <p:cNvPr id="15" name="表 14">
            <a:extLst>
              <a:ext uri="{FF2B5EF4-FFF2-40B4-BE49-F238E27FC236}">
                <a16:creationId xmlns:a16="http://schemas.microsoft.com/office/drawing/2014/main" id="{DE006DF6-2394-F708-0E7F-A7B8FB24C258}"/>
              </a:ext>
            </a:extLst>
          </p:cNvPr>
          <p:cNvGraphicFramePr>
            <a:graphicFrameLocks noGrp="1"/>
          </p:cNvGraphicFramePr>
          <p:nvPr/>
        </p:nvGraphicFramePr>
        <p:xfrm>
          <a:off x="4879658" y="4632861"/>
          <a:ext cx="6225540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5108">
                  <a:extLst>
                    <a:ext uri="{9D8B030D-6E8A-4147-A177-3AD203B41FA5}">
                      <a16:colId xmlns:a16="http://schemas.microsoft.com/office/drawing/2014/main" val="2988427942"/>
                    </a:ext>
                  </a:extLst>
                </a:gridCol>
                <a:gridCol w="1245108">
                  <a:extLst>
                    <a:ext uri="{9D8B030D-6E8A-4147-A177-3AD203B41FA5}">
                      <a16:colId xmlns:a16="http://schemas.microsoft.com/office/drawing/2014/main" val="782487911"/>
                    </a:ext>
                  </a:extLst>
                </a:gridCol>
                <a:gridCol w="1245108">
                  <a:extLst>
                    <a:ext uri="{9D8B030D-6E8A-4147-A177-3AD203B41FA5}">
                      <a16:colId xmlns:a16="http://schemas.microsoft.com/office/drawing/2014/main" val="1324096066"/>
                    </a:ext>
                  </a:extLst>
                </a:gridCol>
                <a:gridCol w="1245108">
                  <a:extLst>
                    <a:ext uri="{9D8B030D-6E8A-4147-A177-3AD203B41FA5}">
                      <a16:colId xmlns:a16="http://schemas.microsoft.com/office/drawing/2014/main" val="3495433864"/>
                    </a:ext>
                  </a:extLst>
                </a:gridCol>
                <a:gridCol w="1245108">
                  <a:extLst>
                    <a:ext uri="{9D8B030D-6E8A-4147-A177-3AD203B41FA5}">
                      <a16:colId xmlns:a16="http://schemas.microsoft.com/office/drawing/2014/main" val="3829753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solidFill>
                          <a:schemeClr val="tx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1</a:t>
                      </a:r>
                      <a:endParaRPr kumimoji="1" lang="ja-JP" altLang="en-US" dirty="0">
                        <a:solidFill>
                          <a:schemeClr val="tx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2</a:t>
                      </a:r>
                      <a:endParaRPr kumimoji="1" lang="ja-JP" altLang="en-US" dirty="0">
                        <a:solidFill>
                          <a:schemeClr val="tx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3</a:t>
                      </a:r>
                      <a:endParaRPr kumimoji="1" lang="ja-JP" altLang="en-US" dirty="0">
                        <a:solidFill>
                          <a:schemeClr val="tx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4</a:t>
                      </a:r>
                      <a:endParaRPr kumimoji="1" lang="ja-JP" altLang="en-US" dirty="0">
                        <a:solidFill>
                          <a:schemeClr val="tx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895901"/>
                  </a:ext>
                </a:extLst>
              </a:tr>
              <a:tr h="333098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ピン名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GND</a:t>
                      </a:r>
                      <a:endParaRPr kumimoji="1" lang="ja-JP" altLang="en-US" dirty="0">
                        <a:solidFill>
                          <a:schemeClr val="tx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3.3V IN</a:t>
                      </a:r>
                      <a:endParaRPr kumimoji="1" lang="ja-JP" altLang="en-US" dirty="0">
                        <a:solidFill>
                          <a:schemeClr val="tx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SW OUT</a:t>
                      </a:r>
                      <a:endParaRPr kumimoji="1" lang="ja-JP" altLang="en-US" dirty="0">
                        <a:solidFill>
                          <a:schemeClr val="tx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LED CTRL</a:t>
                      </a:r>
                      <a:endParaRPr kumimoji="1" lang="ja-JP" altLang="en-US" dirty="0">
                        <a:solidFill>
                          <a:schemeClr val="tx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973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機能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基準電位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電源入力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出力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LED</a:t>
                      </a:r>
                      <a:r>
                        <a:rPr kumimoji="1" lang="ja-JP" altLang="en-US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制御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467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6156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F4F62480-78A9-9AEA-3AC7-980531498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370" y="211836"/>
            <a:ext cx="7033260" cy="643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321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</TotalTime>
  <Words>35</Words>
  <Application>Microsoft Office PowerPoint</Application>
  <PresentationFormat>ワイド画面</PresentationFormat>
  <Paragraphs>22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Noto Sans JP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5CEMM058</dc:creator>
  <cp:lastModifiedBy>5CEMM058</cp:lastModifiedBy>
  <cp:revision>23</cp:revision>
  <dcterms:created xsi:type="dcterms:W3CDTF">2026-05-10T17:25:52Z</dcterms:created>
  <dcterms:modified xsi:type="dcterms:W3CDTF">2026-05-11T09:21:23Z</dcterms:modified>
</cp:coreProperties>
</file>